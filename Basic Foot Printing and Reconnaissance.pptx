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comments/comment7.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Yrus" initials="C" lastIdx="11" clrIdx="0">
    <p:extLst>
      <p:ext uri="{19B8F6BF-5375-455C-9EA6-DF929625EA0E}">
        <p15:presenceInfo xmlns:p15="http://schemas.microsoft.com/office/powerpoint/2012/main" userId="CYru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8-18T11:54:45.638" idx="1">
    <p:pos x="7311" y="3966"/>
    <p:text>The objective of this presentation is to demonstrate how we can perform basic footprinting and reconnaissance on a target domain. We’ll be using common tools like WHOIS, nslookup, Nmap, and theHarvester. The goal isn’t to hack, but to show how much valuable information can be gathered just from open sources, which is often the first step in penetration testing.</p:text>
    <p:extLst>
      <p:ext uri="{C676402C-5697-4E1C-873F-D02D1690AC5C}">
        <p15:threadingInfo xmlns:p15="http://schemas.microsoft.com/office/powerpoint/2012/main" timeZoneBias="42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5-08-18T11:59:18.696" idx="3">
    <p:pos x="7359" y="4008"/>
    <p:text>By the end of this demo, the key skills you’ll see are how to perform OSINT to collect information from public sources, how to enumerate DNS records to understand domain infrastructure, and how to run basic network scanning to identify open ports and services. These are fundamental building blocks for anyone in cybersecurity or penetration testing.</p:text>
    <p:extLst>
      <p:ext uri="{C676402C-5697-4E1C-873F-D02D1690AC5C}">
        <p15:threadingInfo xmlns:p15="http://schemas.microsoft.com/office/powerpoint/2012/main" timeZoneBias="42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5-08-18T12:31:07.801" idx="4">
    <p:pos x="7360" y="4039"/>
    <p:text>WHOIS is one of the first tools we use to gather information about a domain. From this output, we can see the registrar, the registration and expiry dates, and the name servers associated with the domain. Even without touching the target, we’re already learning who owns it, where it’s hosted, and whether it’s actively maintained. This kind of information helps attackers map out targets, but it’s also valuable for defenders to understand what’s exposed.</p:text>
    <p:extLst>
      <p:ext uri="{C676402C-5697-4E1C-873F-D02D1690AC5C}">
        <p15:threadingInfo xmlns:p15="http://schemas.microsoft.com/office/powerpoint/2012/main" timeZoneBias="42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5-08-18T12:44:15.897" idx="5">
    <p:pos x="7427" y="4104"/>
    <p:text>NSLOOKUP is a simple but powerful DNS query tool. Here we can see the A record, which resolves the domain name to its IP address. We also checked the MX records, which show the mail servers for the domain, and the NS records, which reveal which DNS servers are managing it. Just from this, we’re already mapping the infrastructure behind the domain without sending a single packet to the target system.</p:text>
    <p:extLst>
      <p:ext uri="{C676402C-5697-4E1C-873F-D02D1690AC5C}">
        <p15:threadingInfo xmlns:p15="http://schemas.microsoft.com/office/powerpoint/2012/main" timeZoneBias="42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5-08-20T19:11:06.744" idx="8">
    <p:pos x="10" y="10"/>
    <p:text>When scanning facebook.com with Nmap, we only see ports 80 and 443 open. This makes sense because Facebook is a web service they want users connecting over HTTP and HTTPS, nothing else. Unlike smaller organizations where we sometimes find forgotten or unusual services, Facebook minimizes exposure. From a security perspective, this is exactly what we want a narrow attack surface. For attackers, this means fewer opportunities; for defenders, it shows that security has been built into their infrastructure.</p:text>
    <p:extLst>
      <p:ext uri="{C676402C-5697-4E1C-873F-D02D1690AC5C}">
        <p15:threadingInfo xmlns:p15="http://schemas.microsoft.com/office/powerpoint/2012/main" timeZoneBias="42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5-08-20T19:19:01.834" idx="10">
    <p:pos x="10" y="10"/>
    <p:text>When running theHarvester on facebook.com, the results are quite limited. That’s intentional big organizations like Facebook have security teams that monitor and reduce what’s exposed publicly. Even so, small traces of subdomains or related information can appear. This highlights the value of OSINT: attackers only need one overlooked asset, while defenders need to constantly watch and minimize their digital footprint.</p:text>
    <p:extLst>
      <p:ext uri="{C676402C-5697-4E1C-873F-D02D1690AC5C}">
        <p15:threadingInfo xmlns:p15="http://schemas.microsoft.com/office/powerpoint/2012/main" timeZoneBias="42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25-08-20T19:31:03.416" idx="11">
    <p:pos x="7356" y="4060"/>
    <p:text>This table summarizes the reconnaissance findings. WHOIS confirmed strong registration and privacy controls. NSLOOKUP showed that Facebook distributes traffic through multiple IPs, which increases resilience. Nmap confirmed only essential web ports are exposed, minimizing the attack surface. Finally, theHarvester showed very limited public data, highlighting how large organizations actively manage their footprint. Together, these results illustrate a mature and hardened security posture — but also prove that even global companies still leave small traces attackers can work with.</p:text>
    <p:extLst>
      <p:ext uri="{C676402C-5697-4E1C-873F-D02D1690AC5C}">
        <p15:threadingInfo xmlns:p15="http://schemas.microsoft.com/office/powerpoint/2012/main" timeZoneBias="42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C85D08A-2842-4322-A40A-B476C249D1CE}"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F5B6FD-7BEF-4261-AC64-6AE05CEF7E03}" type="slidenum">
              <a:rPr lang="en-US" smtClean="0"/>
              <a:t>‹#›</a:t>
            </a:fld>
            <a:endParaRPr lang="en-US"/>
          </a:p>
        </p:txBody>
      </p:sp>
    </p:spTree>
    <p:extLst>
      <p:ext uri="{BB962C8B-B14F-4D97-AF65-F5344CB8AC3E}">
        <p14:creationId xmlns:p14="http://schemas.microsoft.com/office/powerpoint/2010/main" val="13246439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85D08A-2842-4322-A40A-B476C249D1CE}"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F5B6FD-7BEF-4261-AC64-6AE05CEF7E03}" type="slidenum">
              <a:rPr lang="en-US" smtClean="0"/>
              <a:t>‹#›</a:t>
            </a:fld>
            <a:endParaRPr lang="en-US"/>
          </a:p>
        </p:txBody>
      </p:sp>
    </p:spTree>
    <p:extLst>
      <p:ext uri="{BB962C8B-B14F-4D97-AF65-F5344CB8AC3E}">
        <p14:creationId xmlns:p14="http://schemas.microsoft.com/office/powerpoint/2010/main" val="34880733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85D08A-2842-4322-A40A-B476C249D1CE}"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F5B6FD-7BEF-4261-AC64-6AE05CEF7E03}" type="slidenum">
              <a:rPr lang="en-US" smtClean="0"/>
              <a:t>‹#›</a:t>
            </a:fld>
            <a:endParaRPr lang="en-US"/>
          </a:p>
        </p:txBody>
      </p:sp>
    </p:spTree>
    <p:extLst>
      <p:ext uri="{BB962C8B-B14F-4D97-AF65-F5344CB8AC3E}">
        <p14:creationId xmlns:p14="http://schemas.microsoft.com/office/powerpoint/2010/main" val="1945959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C85D08A-2842-4322-A40A-B476C249D1CE}" type="datetimeFigureOut">
              <a:rPr lang="en-US" smtClean="0"/>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6F5B6FD-7BEF-4261-AC64-6AE05CEF7E03}" type="slidenum">
              <a:rPr lang="en-US" smtClean="0"/>
              <a:t>‹#›</a:t>
            </a:fld>
            <a:endParaRPr lang="en-US"/>
          </a:p>
        </p:txBody>
      </p:sp>
    </p:spTree>
    <p:extLst>
      <p:ext uri="{BB962C8B-B14F-4D97-AF65-F5344CB8AC3E}">
        <p14:creationId xmlns:p14="http://schemas.microsoft.com/office/powerpoint/2010/main" val="2410665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C85D08A-2842-4322-A40A-B476C249D1CE}" type="datetimeFigureOut">
              <a:rPr lang="en-US" smtClean="0"/>
              <a:t>10/24/2025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6F5B6FD-7BEF-4261-AC64-6AE05CEF7E03}" type="slidenum">
              <a:rPr lang="en-US" smtClean="0"/>
              <a:t>‹#›</a:t>
            </a:fld>
            <a:endParaRPr lang="en-US"/>
          </a:p>
        </p:txBody>
      </p:sp>
    </p:spTree>
    <p:extLst>
      <p:ext uri="{BB962C8B-B14F-4D97-AF65-F5344CB8AC3E}">
        <p14:creationId xmlns:p14="http://schemas.microsoft.com/office/powerpoint/2010/main" val="42440666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C85D08A-2842-4322-A40A-B476C249D1CE}" type="datetimeFigureOut">
              <a:rPr lang="en-US" smtClean="0"/>
              <a:t>10/24/2025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6F5B6FD-7BEF-4261-AC64-6AE05CEF7E03}" type="slidenum">
              <a:rPr lang="en-US" smtClean="0"/>
              <a:t>‹#›</a:t>
            </a:fld>
            <a:endParaRPr lang="en-US"/>
          </a:p>
        </p:txBody>
      </p:sp>
    </p:spTree>
    <p:extLst>
      <p:ext uri="{BB962C8B-B14F-4D97-AF65-F5344CB8AC3E}">
        <p14:creationId xmlns:p14="http://schemas.microsoft.com/office/powerpoint/2010/main" val="2462388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85D08A-2842-4322-A40A-B476C249D1CE}" type="datetimeFigureOut">
              <a:rPr lang="en-US" smtClean="0"/>
              <a:t>10/24/2025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6F5B6FD-7BEF-4261-AC64-6AE05CEF7E03}" type="slidenum">
              <a:rPr lang="en-US" smtClean="0"/>
              <a:t>‹#›</a:t>
            </a:fld>
            <a:endParaRPr lang="en-US"/>
          </a:p>
        </p:txBody>
      </p:sp>
    </p:spTree>
    <p:extLst>
      <p:ext uri="{BB962C8B-B14F-4D97-AF65-F5344CB8AC3E}">
        <p14:creationId xmlns:p14="http://schemas.microsoft.com/office/powerpoint/2010/main" val="3136946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85D08A-2842-4322-A40A-B476C249D1CE}" type="datetimeFigureOut">
              <a:rPr lang="en-US" smtClean="0"/>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6F5B6FD-7BEF-4261-AC64-6AE05CEF7E03}" type="slidenum">
              <a:rPr lang="en-US" smtClean="0"/>
              <a:t>‹#›</a:t>
            </a:fld>
            <a:endParaRPr lang="en-US"/>
          </a:p>
        </p:txBody>
      </p:sp>
    </p:spTree>
    <p:extLst>
      <p:ext uri="{BB962C8B-B14F-4D97-AF65-F5344CB8AC3E}">
        <p14:creationId xmlns:p14="http://schemas.microsoft.com/office/powerpoint/2010/main" val="3361584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85D08A-2842-4322-A40A-B476C249D1CE}" type="datetimeFigureOut">
              <a:rPr lang="en-US" smtClean="0"/>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6F5B6FD-7BEF-4261-AC64-6AE05CEF7E03}" type="slidenum">
              <a:rPr lang="en-US" smtClean="0"/>
              <a:t>‹#›</a:t>
            </a:fld>
            <a:endParaRPr lang="en-US"/>
          </a:p>
        </p:txBody>
      </p:sp>
    </p:spTree>
    <p:extLst>
      <p:ext uri="{BB962C8B-B14F-4D97-AF65-F5344CB8AC3E}">
        <p14:creationId xmlns:p14="http://schemas.microsoft.com/office/powerpoint/2010/main" val="3116761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85D08A-2842-4322-A40A-B476C249D1CE}"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F5B6FD-7BEF-4261-AC64-6AE05CEF7E03}" type="slidenum">
              <a:rPr lang="en-US" smtClean="0"/>
              <a:t>‹#›</a:t>
            </a:fld>
            <a:endParaRPr lang="en-US"/>
          </a:p>
        </p:txBody>
      </p:sp>
    </p:spTree>
    <p:extLst>
      <p:ext uri="{BB962C8B-B14F-4D97-AF65-F5344CB8AC3E}">
        <p14:creationId xmlns:p14="http://schemas.microsoft.com/office/powerpoint/2010/main" val="29399310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85D08A-2842-4322-A40A-B476C249D1CE}"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F5B6FD-7BEF-4261-AC64-6AE05CEF7E03}"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105799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85D08A-2842-4322-A40A-B476C249D1CE}"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F5B6FD-7BEF-4261-AC64-6AE05CEF7E03}" type="slidenum">
              <a:rPr lang="en-US" smtClean="0"/>
              <a:t>‹#›</a:t>
            </a:fld>
            <a:endParaRPr lang="en-US"/>
          </a:p>
        </p:txBody>
      </p:sp>
    </p:spTree>
    <p:extLst>
      <p:ext uri="{BB962C8B-B14F-4D97-AF65-F5344CB8AC3E}">
        <p14:creationId xmlns:p14="http://schemas.microsoft.com/office/powerpoint/2010/main" val="22562163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85D08A-2842-4322-A40A-B476C249D1CE}"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F5B6FD-7BEF-4261-AC64-6AE05CEF7E03}"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0711357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85D08A-2842-4322-A40A-B476C249D1CE}"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F5B6FD-7BEF-4261-AC64-6AE05CEF7E03}" type="slidenum">
              <a:rPr lang="en-US" smtClean="0"/>
              <a:t>‹#›</a:t>
            </a:fld>
            <a:endParaRPr lang="en-US"/>
          </a:p>
        </p:txBody>
      </p:sp>
    </p:spTree>
    <p:extLst>
      <p:ext uri="{BB962C8B-B14F-4D97-AF65-F5344CB8AC3E}">
        <p14:creationId xmlns:p14="http://schemas.microsoft.com/office/powerpoint/2010/main" val="25755285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85D08A-2842-4322-A40A-B476C249D1CE}"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F5B6FD-7BEF-4261-AC64-6AE05CEF7E03}" type="slidenum">
              <a:rPr lang="en-US" smtClean="0"/>
              <a:t>‹#›</a:t>
            </a:fld>
            <a:endParaRPr lang="en-US"/>
          </a:p>
        </p:txBody>
      </p:sp>
    </p:spTree>
    <p:extLst>
      <p:ext uri="{BB962C8B-B14F-4D97-AF65-F5344CB8AC3E}">
        <p14:creationId xmlns:p14="http://schemas.microsoft.com/office/powerpoint/2010/main" val="31686926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85D08A-2842-4322-A40A-B476C249D1CE}"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F5B6FD-7BEF-4261-AC64-6AE05CEF7E03}" type="slidenum">
              <a:rPr lang="en-US" smtClean="0"/>
              <a:t>‹#›</a:t>
            </a:fld>
            <a:endParaRPr lang="en-US"/>
          </a:p>
        </p:txBody>
      </p:sp>
    </p:spTree>
    <p:extLst>
      <p:ext uri="{BB962C8B-B14F-4D97-AF65-F5344CB8AC3E}">
        <p14:creationId xmlns:p14="http://schemas.microsoft.com/office/powerpoint/2010/main" val="29162391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C85D08A-2842-4322-A40A-B476C249D1CE}" type="datetimeFigureOut">
              <a:rPr lang="en-US" smtClean="0"/>
              <a:t>10/24/2025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6F5B6FD-7BEF-4261-AC64-6AE05CEF7E03}" type="slidenum">
              <a:rPr lang="en-US" smtClean="0"/>
              <a:t>‹#›</a:t>
            </a:fld>
            <a:endParaRPr lang="en-US"/>
          </a:p>
        </p:txBody>
      </p:sp>
    </p:spTree>
    <p:extLst>
      <p:ext uri="{BB962C8B-B14F-4D97-AF65-F5344CB8AC3E}">
        <p14:creationId xmlns:p14="http://schemas.microsoft.com/office/powerpoint/2010/main" val="3235269091"/>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omments" Target="../comments/comment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comments" Target="../comments/commen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comments" Target="../comments/comment4.xml"/></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5.xm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omments" Target="../comments/comment6.xm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omments" Target="../comments/comment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F0E33-2248-C540-BD2A-40B4AF9BF794}"/>
              </a:ext>
            </a:extLst>
          </p:cNvPr>
          <p:cNvSpPr>
            <a:spLocks noGrp="1"/>
          </p:cNvSpPr>
          <p:nvPr>
            <p:ph type="ctrTitle"/>
          </p:nvPr>
        </p:nvSpPr>
        <p:spPr/>
        <p:txBody>
          <a:bodyPr/>
          <a:lstStyle/>
          <a:p>
            <a:r>
              <a:rPr lang="en-US" b="1" dirty="0"/>
              <a:t>Basic Foot Printing and Reconnaissance</a:t>
            </a:r>
          </a:p>
        </p:txBody>
      </p:sp>
      <p:sp>
        <p:nvSpPr>
          <p:cNvPr id="3" name="Subtitle 2">
            <a:extLst>
              <a:ext uri="{FF2B5EF4-FFF2-40B4-BE49-F238E27FC236}">
                <a16:creationId xmlns:a16="http://schemas.microsoft.com/office/drawing/2014/main" id="{30C2FA94-ECA8-B67D-2CCE-20250000B162}"/>
              </a:ext>
            </a:extLst>
          </p:cNvPr>
          <p:cNvSpPr>
            <a:spLocks noGrp="1"/>
          </p:cNvSpPr>
          <p:nvPr>
            <p:ph type="subTitle" idx="1"/>
          </p:nvPr>
        </p:nvSpPr>
        <p:spPr>
          <a:xfrm>
            <a:off x="1507067" y="4050833"/>
            <a:ext cx="7766936" cy="1812938"/>
          </a:xfrm>
        </p:spPr>
        <p:txBody>
          <a:bodyPr>
            <a:normAutofit/>
          </a:bodyPr>
          <a:lstStyle/>
          <a:p>
            <a:r>
              <a:rPr lang="en-US" dirty="0">
                <a:solidFill>
                  <a:schemeClr val="accent1"/>
                </a:solidFill>
              </a:rPr>
              <a:t>By </a:t>
            </a:r>
          </a:p>
          <a:p>
            <a:r>
              <a:rPr lang="en-US" dirty="0"/>
              <a:t>Sunday Ologbo John </a:t>
            </a:r>
          </a:p>
          <a:p>
            <a:r>
              <a:rPr lang="en-US" dirty="0"/>
              <a:t>NCT/CS/25/0795</a:t>
            </a:r>
          </a:p>
        </p:txBody>
      </p:sp>
    </p:spTree>
    <p:extLst>
      <p:ext uri="{BB962C8B-B14F-4D97-AF65-F5344CB8AC3E}">
        <p14:creationId xmlns:p14="http://schemas.microsoft.com/office/powerpoint/2010/main" val="3450136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46D7B-7ABA-5980-1FE4-1053C905A73E}"/>
              </a:ext>
            </a:extLst>
          </p:cNvPr>
          <p:cNvSpPr>
            <a:spLocks noGrp="1"/>
          </p:cNvSpPr>
          <p:nvPr>
            <p:ph type="title"/>
          </p:nvPr>
        </p:nvSpPr>
        <p:spPr/>
        <p:txBody>
          <a:bodyPr>
            <a:normAutofit fontScale="90000"/>
          </a:bodyPr>
          <a:lstStyle/>
          <a:p>
            <a:br>
              <a:rPr lang="en-US" dirty="0"/>
            </a:br>
            <a:r>
              <a:rPr lang="en-US" sz="4900" b="1" dirty="0"/>
              <a:t>Objective</a:t>
            </a:r>
            <a:br>
              <a:rPr lang="en-US" dirty="0"/>
            </a:br>
            <a:endParaRPr lang="en-US" dirty="0"/>
          </a:p>
        </p:txBody>
      </p:sp>
      <p:sp>
        <p:nvSpPr>
          <p:cNvPr id="4" name="Rectangle 1">
            <a:extLst>
              <a:ext uri="{FF2B5EF4-FFF2-40B4-BE49-F238E27FC236}">
                <a16:creationId xmlns:a16="http://schemas.microsoft.com/office/drawing/2014/main" id="{A1C21BA8-63FB-55EB-45D0-E18FA6D1FD15}"/>
              </a:ext>
            </a:extLst>
          </p:cNvPr>
          <p:cNvSpPr>
            <a:spLocks noGrp="1" noChangeArrowheads="1"/>
          </p:cNvSpPr>
          <p:nvPr>
            <p:ph idx="1"/>
          </p:nvPr>
        </p:nvSpPr>
        <p:spPr bwMode="auto">
          <a:xfrm>
            <a:off x="677334" y="2380848"/>
            <a:ext cx="859666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Demonstrate basic </a:t>
            </a:r>
            <a:r>
              <a:rPr kumimoji="0" lang="en-US" altLang="en-US" sz="1800" b="1" i="0" u="none" strike="noStrike" cap="none" normalizeH="0" baseline="0" dirty="0">
                <a:ln>
                  <a:noFill/>
                </a:ln>
                <a:solidFill>
                  <a:schemeClr val="tx1"/>
                </a:solidFill>
                <a:effectLst/>
                <a:latin typeface="Arial" panose="020B0604020202020204" pitchFamily="34" charset="0"/>
              </a:rPr>
              <a:t>foot printing &amp; reconnaissance</a:t>
            </a:r>
            <a:r>
              <a:rPr kumimoji="0" lang="en-US" altLang="en-US" sz="1800" b="0" i="0" u="none" strike="noStrike" cap="none" normalizeH="0" baseline="0" dirty="0">
                <a:ln>
                  <a:noFill/>
                </a:ln>
                <a:solidFill>
                  <a:schemeClr val="tx1"/>
                </a:solidFill>
                <a:effectLst/>
                <a:latin typeface="Arial" panose="020B0604020202020204" pitchFamily="34" charset="0"/>
              </a:rPr>
              <a:t> on a domain</a:t>
            </a:r>
          </a:p>
          <a:p>
            <a:pPr defTabSz="914400" eaLnBrk="0" fontAlgn="base" hangingPunct="0">
              <a:spcBef>
                <a:spcPct val="0"/>
              </a:spcBef>
              <a:spcAft>
                <a:spcPct val="0"/>
              </a:spcAft>
              <a:buClrTx/>
              <a:buSzTx/>
              <a:buFont typeface="Arial" panose="020B0604020202020204" pitchFamily="34" charset="0"/>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Use common tools: </a:t>
            </a:r>
            <a:r>
              <a:rPr kumimoji="0" lang="en-US" altLang="en-US" sz="1800" b="1" i="0" u="none" strike="noStrike" cap="none" normalizeH="0" baseline="0" dirty="0">
                <a:ln>
                  <a:noFill/>
                </a:ln>
                <a:solidFill>
                  <a:schemeClr val="tx1"/>
                </a:solidFill>
                <a:effectLst/>
                <a:latin typeface="Arial" panose="020B0604020202020204" pitchFamily="34" charset="0"/>
              </a:rPr>
              <a:t>WHOIS, nslookup, Nmap, theHarvester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Show how to gather </a:t>
            </a:r>
            <a:r>
              <a:rPr kumimoji="0" lang="en-US" altLang="en-US" sz="1800" b="1" i="0" u="none" strike="noStrike" cap="none" normalizeH="0" baseline="0" dirty="0">
                <a:ln>
                  <a:noFill/>
                </a:ln>
                <a:solidFill>
                  <a:schemeClr val="tx1"/>
                </a:solidFill>
                <a:effectLst/>
                <a:latin typeface="Arial" panose="020B0604020202020204" pitchFamily="34" charset="0"/>
              </a:rPr>
              <a:t>OSINT, DNS records, and open ports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30791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F1247-07A7-11C3-4021-A566F35CFC7E}"/>
              </a:ext>
            </a:extLst>
          </p:cNvPr>
          <p:cNvSpPr>
            <a:spLocks noGrp="1"/>
          </p:cNvSpPr>
          <p:nvPr>
            <p:ph type="title"/>
          </p:nvPr>
        </p:nvSpPr>
        <p:spPr/>
        <p:txBody>
          <a:bodyPr>
            <a:normAutofit/>
          </a:bodyPr>
          <a:lstStyle/>
          <a:p>
            <a:r>
              <a:rPr lang="en-US" sz="4400" b="1" dirty="0"/>
              <a:t>Skills Learned</a:t>
            </a:r>
          </a:p>
        </p:txBody>
      </p:sp>
      <p:sp>
        <p:nvSpPr>
          <p:cNvPr id="4" name="Rectangle 1">
            <a:extLst>
              <a:ext uri="{FF2B5EF4-FFF2-40B4-BE49-F238E27FC236}">
                <a16:creationId xmlns:a16="http://schemas.microsoft.com/office/drawing/2014/main" id="{5E3E5C09-B703-0315-104E-9B54B43E30F4}"/>
              </a:ext>
            </a:extLst>
          </p:cNvPr>
          <p:cNvSpPr>
            <a:spLocks noGrp="1" noChangeArrowheads="1"/>
          </p:cNvSpPr>
          <p:nvPr>
            <p:ph idx="1"/>
          </p:nvPr>
        </p:nvSpPr>
        <p:spPr bwMode="auto">
          <a:xfrm>
            <a:off x="818011" y="1992033"/>
            <a:ext cx="8832426"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OSINT</a:t>
            </a:r>
            <a:r>
              <a:rPr kumimoji="0" lang="en-US" altLang="en-US" sz="1800" b="0" i="0" u="none" strike="noStrike" cap="none" normalizeH="0" baseline="0" dirty="0">
                <a:ln>
                  <a:noFill/>
                </a:ln>
                <a:solidFill>
                  <a:schemeClr val="tx1"/>
                </a:solidFill>
                <a:effectLst/>
                <a:latin typeface="Arial" panose="020B0604020202020204" pitchFamily="34" charset="0"/>
              </a:rPr>
              <a:t> (open-source intelligence)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DNS enumeration</a:t>
            </a:r>
            <a:r>
              <a:rPr kumimoji="0" lang="en-US" altLang="en-US" sz="1800" b="0" i="0" u="none" strike="noStrike" cap="none" normalizeH="0" baseline="0" dirty="0">
                <a:ln>
                  <a:noFill/>
                </a:ln>
                <a:solidFill>
                  <a:schemeClr val="tx1"/>
                </a:solidFill>
                <a:effectLst/>
                <a:latin typeface="Arial" panose="020B0604020202020204" pitchFamily="34" charset="0"/>
              </a:rPr>
              <a:t> (gathering DNS records)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Network scanning</a:t>
            </a:r>
            <a:r>
              <a:rPr kumimoji="0" lang="en-US" altLang="en-US" sz="1800" b="0" i="0" u="none" strike="noStrike" cap="none" normalizeH="0" baseline="0" dirty="0">
                <a:ln>
                  <a:noFill/>
                </a:ln>
                <a:solidFill>
                  <a:schemeClr val="tx1"/>
                </a:solidFill>
                <a:effectLst/>
                <a:latin typeface="Arial" panose="020B0604020202020204" pitchFamily="34" charset="0"/>
              </a:rPr>
              <a:t> (finding open ports &amp; services)</a:t>
            </a:r>
          </a:p>
        </p:txBody>
      </p:sp>
    </p:spTree>
    <p:extLst>
      <p:ext uri="{BB962C8B-B14F-4D97-AF65-F5344CB8AC3E}">
        <p14:creationId xmlns:p14="http://schemas.microsoft.com/office/powerpoint/2010/main" val="1704183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6A487-2514-F324-2771-E093450B3D84}"/>
              </a:ext>
            </a:extLst>
          </p:cNvPr>
          <p:cNvSpPr>
            <a:spLocks noGrp="1"/>
          </p:cNvSpPr>
          <p:nvPr>
            <p:ph type="title"/>
          </p:nvPr>
        </p:nvSpPr>
        <p:spPr>
          <a:xfrm>
            <a:off x="494108" y="199374"/>
            <a:ext cx="8596668" cy="1320800"/>
          </a:xfrm>
        </p:spPr>
        <p:txBody>
          <a:bodyPr>
            <a:normAutofit/>
          </a:bodyPr>
          <a:lstStyle/>
          <a:p>
            <a:r>
              <a:rPr lang="en-US" sz="4400" b="1" dirty="0"/>
              <a:t>WHOIS</a:t>
            </a:r>
          </a:p>
        </p:txBody>
      </p:sp>
      <p:sp>
        <p:nvSpPr>
          <p:cNvPr id="3" name="Content Placeholder 2">
            <a:extLst>
              <a:ext uri="{FF2B5EF4-FFF2-40B4-BE49-F238E27FC236}">
                <a16:creationId xmlns:a16="http://schemas.microsoft.com/office/drawing/2014/main" id="{377DBC14-6A01-9627-164C-E6C40E01DF65}"/>
              </a:ext>
            </a:extLst>
          </p:cNvPr>
          <p:cNvSpPr>
            <a:spLocks noGrp="1"/>
          </p:cNvSpPr>
          <p:nvPr>
            <p:ph idx="1"/>
          </p:nvPr>
        </p:nvSpPr>
        <p:spPr>
          <a:xfrm>
            <a:off x="494108" y="860637"/>
            <a:ext cx="8596668" cy="3880773"/>
          </a:xfrm>
        </p:spPr>
        <p:txBody>
          <a:bodyPr/>
          <a:lstStyle/>
          <a:p>
            <a:r>
              <a:rPr lang="en-US" dirty="0"/>
              <a:t>Domain registration &amp; ownership info</a:t>
            </a:r>
          </a:p>
        </p:txBody>
      </p:sp>
      <p:pic>
        <p:nvPicPr>
          <p:cNvPr id="17" name="Picture 16">
            <a:extLst>
              <a:ext uri="{FF2B5EF4-FFF2-40B4-BE49-F238E27FC236}">
                <a16:creationId xmlns:a16="http://schemas.microsoft.com/office/drawing/2014/main" id="{2FD9D8A8-15B2-6732-A356-EA4F3BDC36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4108" y="1632389"/>
            <a:ext cx="3820058" cy="4915586"/>
          </a:xfrm>
          <a:prstGeom prst="rect">
            <a:avLst/>
          </a:prstGeom>
        </p:spPr>
      </p:pic>
      <p:pic>
        <p:nvPicPr>
          <p:cNvPr id="19" name="Picture 18">
            <a:extLst>
              <a:ext uri="{FF2B5EF4-FFF2-40B4-BE49-F238E27FC236}">
                <a16:creationId xmlns:a16="http://schemas.microsoft.com/office/drawing/2014/main" id="{29F4BF14-DD92-A842-C2CE-8BE706A988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92442" y="1632389"/>
            <a:ext cx="4001058" cy="2010056"/>
          </a:xfrm>
          <a:prstGeom prst="rect">
            <a:avLst/>
          </a:prstGeom>
        </p:spPr>
      </p:pic>
      <p:pic>
        <p:nvPicPr>
          <p:cNvPr id="21" name="Picture 20">
            <a:extLst>
              <a:ext uri="{FF2B5EF4-FFF2-40B4-BE49-F238E27FC236}">
                <a16:creationId xmlns:a16="http://schemas.microsoft.com/office/drawing/2014/main" id="{441646B2-16BB-9B1A-50F2-A54B157225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90776" y="1662687"/>
            <a:ext cx="2905530" cy="3982006"/>
          </a:xfrm>
          <a:prstGeom prst="rect">
            <a:avLst/>
          </a:prstGeom>
        </p:spPr>
      </p:pic>
    </p:spTree>
    <p:extLst>
      <p:ext uri="{BB962C8B-B14F-4D97-AF65-F5344CB8AC3E}">
        <p14:creationId xmlns:p14="http://schemas.microsoft.com/office/powerpoint/2010/main" val="30094663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03EDC-33B2-ED37-1117-0220D3C8B965}"/>
              </a:ext>
            </a:extLst>
          </p:cNvPr>
          <p:cNvSpPr>
            <a:spLocks noGrp="1"/>
          </p:cNvSpPr>
          <p:nvPr>
            <p:ph type="title"/>
          </p:nvPr>
        </p:nvSpPr>
        <p:spPr>
          <a:xfrm>
            <a:off x="353777" y="243840"/>
            <a:ext cx="8596668" cy="825305"/>
          </a:xfrm>
        </p:spPr>
        <p:txBody>
          <a:bodyPr>
            <a:normAutofit/>
          </a:bodyPr>
          <a:lstStyle/>
          <a:p>
            <a:r>
              <a:rPr lang="en-US" sz="4400" dirty="0"/>
              <a:t>NSLOOKUP</a:t>
            </a:r>
            <a:endParaRPr lang="en-US" sz="4400" b="1" dirty="0"/>
          </a:p>
        </p:txBody>
      </p:sp>
      <p:sp>
        <p:nvSpPr>
          <p:cNvPr id="3" name="Content Placeholder 2">
            <a:extLst>
              <a:ext uri="{FF2B5EF4-FFF2-40B4-BE49-F238E27FC236}">
                <a16:creationId xmlns:a16="http://schemas.microsoft.com/office/drawing/2014/main" id="{202FD3DF-21A3-0E19-BEC1-56F99732AE4D}"/>
              </a:ext>
            </a:extLst>
          </p:cNvPr>
          <p:cNvSpPr>
            <a:spLocks noGrp="1"/>
          </p:cNvSpPr>
          <p:nvPr>
            <p:ph idx="1"/>
          </p:nvPr>
        </p:nvSpPr>
        <p:spPr>
          <a:xfrm>
            <a:off x="353777" y="956604"/>
            <a:ext cx="8596668" cy="3880773"/>
          </a:xfrm>
        </p:spPr>
        <p:txBody>
          <a:bodyPr/>
          <a:lstStyle/>
          <a:p>
            <a:r>
              <a:rPr lang="en-US" dirty="0"/>
              <a:t>DNS records: A, MX, NS</a:t>
            </a:r>
          </a:p>
        </p:txBody>
      </p:sp>
      <p:pic>
        <p:nvPicPr>
          <p:cNvPr id="13" name="Picture 12">
            <a:extLst>
              <a:ext uri="{FF2B5EF4-FFF2-40B4-BE49-F238E27FC236}">
                <a16:creationId xmlns:a16="http://schemas.microsoft.com/office/drawing/2014/main" id="{8BFDD28F-F7CD-65DA-C7D3-0F08AC2850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3777" y="2038704"/>
            <a:ext cx="3514838" cy="3315163"/>
          </a:xfrm>
          <a:prstGeom prst="rect">
            <a:avLst/>
          </a:prstGeom>
        </p:spPr>
      </p:pic>
      <p:pic>
        <p:nvPicPr>
          <p:cNvPr id="15" name="Picture 14">
            <a:extLst>
              <a:ext uri="{FF2B5EF4-FFF2-40B4-BE49-F238E27FC236}">
                <a16:creationId xmlns:a16="http://schemas.microsoft.com/office/drawing/2014/main" id="{7C91AD58-7AB3-7844-2512-1F37A6EF89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6874" y="2038704"/>
            <a:ext cx="3339674" cy="3353268"/>
          </a:xfrm>
          <a:prstGeom prst="rect">
            <a:avLst/>
          </a:prstGeom>
        </p:spPr>
      </p:pic>
    </p:spTree>
    <p:extLst>
      <p:ext uri="{BB962C8B-B14F-4D97-AF65-F5344CB8AC3E}">
        <p14:creationId xmlns:p14="http://schemas.microsoft.com/office/powerpoint/2010/main" val="3728056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10AE7-D820-D181-6E0A-577563D112EF}"/>
              </a:ext>
            </a:extLst>
          </p:cNvPr>
          <p:cNvSpPr>
            <a:spLocks noGrp="1"/>
          </p:cNvSpPr>
          <p:nvPr>
            <p:ph type="title"/>
          </p:nvPr>
        </p:nvSpPr>
        <p:spPr>
          <a:xfrm>
            <a:off x="677334" y="411020"/>
            <a:ext cx="8596668" cy="714396"/>
          </a:xfrm>
        </p:spPr>
        <p:txBody>
          <a:bodyPr>
            <a:normAutofit fontScale="90000"/>
          </a:bodyPr>
          <a:lstStyle/>
          <a:p>
            <a:r>
              <a:rPr lang="en-US" sz="4400" b="1" dirty="0"/>
              <a:t>Nmap</a:t>
            </a:r>
          </a:p>
        </p:txBody>
      </p:sp>
      <p:sp>
        <p:nvSpPr>
          <p:cNvPr id="3" name="Content Placeholder 2">
            <a:extLst>
              <a:ext uri="{FF2B5EF4-FFF2-40B4-BE49-F238E27FC236}">
                <a16:creationId xmlns:a16="http://schemas.microsoft.com/office/drawing/2014/main" id="{AE7B6080-55B0-FA91-0F41-E92F43848599}"/>
              </a:ext>
            </a:extLst>
          </p:cNvPr>
          <p:cNvSpPr>
            <a:spLocks noGrp="1"/>
          </p:cNvSpPr>
          <p:nvPr>
            <p:ph idx="1"/>
          </p:nvPr>
        </p:nvSpPr>
        <p:spPr>
          <a:xfrm>
            <a:off x="677334" y="1125416"/>
            <a:ext cx="8596668" cy="3880773"/>
          </a:xfrm>
        </p:spPr>
        <p:txBody>
          <a:bodyPr/>
          <a:lstStyle/>
          <a:p>
            <a:r>
              <a:rPr lang="en-US" dirty="0"/>
              <a:t>Port scanning &amp; service detection</a:t>
            </a:r>
          </a:p>
        </p:txBody>
      </p:sp>
      <p:pic>
        <p:nvPicPr>
          <p:cNvPr id="9" name="Picture 8">
            <a:extLst>
              <a:ext uri="{FF2B5EF4-FFF2-40B4-BE49-F238E27FC236}">
                <a16:creationId xmlns:a16="http://schemas.microsoft.com/office/drawing/2014/main" id="{284FA5F6-C522-26BB-7671-53ED134B66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5927" y="1979783"/>
            <a:ext cx="7188590" cy="4041189"/>
          </a:xfrm>
          <a:prstGeom prst="rect">
            <a:avLst/>
          </a:prstGeom>
        </p:spPr>
      </p:pic>
    </p:spTree>
    <p:extLst>
      <p:ext uri="{BB962C8B-B14F-4D97-AF65-F5344CB8AC3E}">
        <p14:creationId xmlns:p14="http://schemas.microsoft.com/office/powerpoint/2010/main" val="12986538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33AC7-4A71-60F0-A373-84FC814C2C83}"/>
              </a:ext>
            </a:extLst>
          </p:cNvPr>
          <p:cNvSpPr>
            <a:spLocks noGrp="1"/>
          </p:cNvSpPr>
          <p:nvPr>
            <p:ph type="title"/>
          </p:nvPr>
        </p:nvSpPr>
        <p:spPr>
          <a:xfrm>
            <a:off x="677334" y="417758"/>
            <a:ext cx="8596668" cy="1320800"/>
          </a:xfrm>
        </p:spPr>
        <p:txBody>
          <a:bodyPr>
            <a:normAutofit/>
          </a:bodyPr>
          <a:lstStyle/>
          <a:p>
            <a:r>
              <a:rPr lang="en-US" sz="4400" dirty="0"/>
              <a:t>theHarvester</a:t>
            </a:r>
          </a:p>
        </p:txBody>
      </p:sp>
      <p:sp>
        <p:nvSpPr>
          <p:cNvPr id="3" name="Content Placeholder 2">
            <a:extLst>
              <a:ext uri="{FF2B5EF4-FFF2-40B4-BE49-F238E27FC236}">
                <a16:creationId xmlns:a16="http://schemas.microsoft.com/office/drawing/2014/main" id="{A06B52CF-FA0F-859A-B9D8-88EC1402BE9C}"/>
              </a:ext>
            </a:extLst>
          </p:cNvPr>
          <p:cNvSpPr>
            <a:spLocks noGrp="1"/>
          </p:cNvSpPr>
          <p:nvPr>
            <p:ph idx="1"/>
          </p:nvPr>
        </p:nvSpPr>
        <p:spPr>
          <a:xfrm>
            <a:off x="677334" y="1488613"/>
            <a:ext cx="8596668" cy="3880773"/>
          </a:xfrm>
        </p:spPr>
        <p:txBody>
          <a:bodyPr/>
          <a:lstStyle/>
          <a:p>
            <a:r>
              <a:rPr lang="en-US" dirty="0"/>
              <a:t>Purpose Gather emails &amp; Subdomains </a:t>
            </a:r>
          </a:p>
        </p:txBody>
      </p:sp>
      <p:pic>
        <p:nvPicPr>
          <p:cNvPr id="5" name="Picture 4">
            <a:extLst>
              <a:ext uri="{FF2B5EF4-FFF2-40B4-BE49-F238E27FC236}">
                <a16:creationId xmlns:a16="http://schemas.microsoft.com/office/drawing/2014/main" id="{2C0B1F25-A007-6608-6D82-7B68BCEB94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334" y="2182475"/>
            <a:ext cx="4629796" cy="4124901"/>
          </a:xfrm>
          <a:prstGeom prst="rect">
            <a:avLst/>
          </a:prstGeom>
        </p:spPr>
      </p:pic>
    </p:spTree>
    <p:extLst>
      <p:ext uri="{BB962C8B-B14F-4D97-AF65-F5344CB8AC3E}">
        <p14:creationId xmlns:p14="http://schemas.microsoft.com/office/powerpoint/2010/main" val="2531159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E4A72-773D-B07F-B33C-79EACB1C78EA}"/>
              </a:ext>
            </a:extLst>
          </p:cNvPr>
          <p:cNvSpPr>
            <a:spLocks noGrp="1"/>
          </p:cNvSpPr>
          <p:nvPr>
            <p:ph type="title"/>
          </p:nvPr>
        </p:nvSpPr>
        <p:spPr>
          <a:xfrm>
            <a:off x="677506" y="370449"/>
            <a:ext cx="8596668" cy="980049"/>
          </a:xfrm>
        </p:spPr>
        <p:txBody>
          <a:bodyPr>
            <a:normAutofit/>
          </a:bodyPr>
          <a:lstStyle/>
          <a:p>
            <a:r>
              <a:rPr lang="en-US" sz="4400" dirty="0"/>
              <a:t>Tables of Findings </a:t>
            </a:r>
          </a:p>
        </p:txBody>
      </p:sp>
      <p:graphicFrame>
        <p:nvGraphicFramePr>
          <p:cNvPr id="10" name="Content Placeholder 9">
            <a:extLst>
              <a:ext uri="{FF2B5EF4-FFF2-40B4-BE49-F238E27FC236}">
                <a16:creationId xmlns:a16="http://schemas.microsoft.com/office/drawing/2014/main" id="{33800AF7-0624-1ADF-2F42-360FA376FB6E}"/>
              </a:ext>
            </a:extLst>
          </p:cNvPr>
          <p:cNvGraphicFramePr>
            <a:graphicFrameLocks noGrp="1"/>
          </p:cNvGraphicFramePr>
          <p:nvPr>
            <p:ph idx="1"/>
            <p:extLst>
              <p:ext uri="{D42A27DB-BD31-4B8C-83A1-F6EECF244321}">
                <p14:modId xmlns:p14="http://schemas.microsoft.com/office/powerpoint/2010/main" val="337352015"/>
              </p:ext>
            </p:extLst>
          </p:nvPr>
        </p:nvGraphicFramePr>
        <p:xfrm>
          <a:off x="846675" y="1350498"/>
          <a:ext cx="8596311" cy="5125720"/>
        </p:xfrm>
        <a:graphic>
          <a:graphicData uri="http://schemas.openxmlformats.org/drawingml/2006/table">
            <a:tbl>
              <a:tblPr firstRow="1" bandRow="1">
                <a:tableStyleId>{5C22544A-7EE6-4342-B048-85BDC9FD1C3A}</a:tableStyleId>
              </a:tblPr>
              <a:tblGrid>
                <a:gridCol w="2865437">
                  <a:extLst>
                    <a:ext uri="{9D8B030D-6E8A-4147-A177-3AD203B41FA5}">
                      <a16:colId xmlns:a16="http://schemas.microsoft.com/office/drawing/2014/main" val="2676258177"/>
                    </a:ext>
                  </a:extLst>
                </a:gridCol>
                <a:gridCol w="2865437">
                  <a:extLst>
                    <a:ext uri="{9D8B030D-6E8A-4147-A177-3AD203B41FA5}">
                      <a16:colId xmlns:a16="http://schemas.microsoft.com/office/drawing/2014/main" val="3729819868"/>
                    </a:ext>
                  </a:extLst>
                </a:gridCol>
                <a:gridCol w="2865437">
                  <a:extLst>
                    <a:ext uri="{9D8B030D-6E8A-4147-A177-3AD203B41FA5}">
                      <a16:colId xmlns:a16="http://schemas.microsoft.com/office/drawing/2014/main" val="333356492"/>
                    </a:ext>
                  </a:extLst>
                </a:gridCol>
              </a:tblGrid>
              <a:tr h="370840">
                <a:tc>
                  <a:txBody>
                    <a:bodyPr/>
                    <a:lstStyle/>
                    <a:p>
                      <a:pPr>
                        <a:buNone/>
                      </a:pPr>
                      <a:r>
                        <a:rPr lang="en-US" b="1" dirty="0"/>
                        <a:t>Tool</a:t>
                      </a:r>
                      <a:endParaRPr lang="en-US" dirty="0"/>
                    </a:p>
                  </a:txBody>
                  <a:tcPr anchor="ctr"/>
                </a:tc>
                <a:tc>
                  <a:txBody>
                    <a:bodyPr/>
                    <a:lstStyle/>
                    <a:p>
                      <a:pPr>
                        <a:buNone/>
                      </a:pPr>
                      <a:r>
                        <a:rPr lang="en-US" b="1"/>
                        <a:t>Key Findings</a:t>
                      </a:r>
                      <a:endParaRPr lang="en-US"/>
                    </a:p>
                  </a:txBody>
                  <a:tcPr anchor="ctr"/>
                </a:tc>
                <a:tc>
                  <a:txBody>
                    <a:bodyPr/>
                    <a:lstStyle/>
                    <a:p>
                      <a:pPr>
                        <a:buNone/>
                      </a:pPr>
                      <a:r>
                        <a:rPr lang="en-US" b="1"/>
                        <a:t>Why It Matters</a:t>
                      </a:r>
                      <a:endParaRPr lang="en-US"/>
                    </a:p>
                  </a:txBody>
                  <a:tcPr anchor="ctr"/>
                </a:tc>
                <a:extLst>
                  <a:ext uri="{0D108BD9-81ED-4DB2-BD59-A6C34878D82A}">
                    <a16:rowId xmlns:a16="http://schemas.microsoft.com/office/drawing/2014/main" val="1436130910"/>
                  </a:ext>
                </a:extLst>
              </a:tr>
              <a:tr h="370840">
                <a:tc>
                  <a:txBody>
                    <a:bodyPr/>
                    <a:lstStyle/>
                    <a:p>
                      <a:pPr>
                        <a:buNone/>
                      </a:pPr>
                      <a:r>
                        <a:rPr lang="en-US" b="1"/>
                        <a:t>WHOIS</a:t>
                      </a:r>
                      <a:endParaRPr lang="en-US"/>
                    </a:p>
                  </a:txBody>
                  <a:tcPr anchor="ctr"/>
                </a:tc>
                <a:tc>
                  <a:txBody>
                    <a:bodyPr/>
                    <a:lstStyle/>
                    <a:p>
                      <a:pPr>
                        <a:buNone/>
                      </a:pPr>
                      <a:r>
                        <a:rPr lang="en-US"/>
                        <a:t>Registrar: MarkMonitor, privacy protection enabled, domain registered long-term.</a:t>
                      </a:r>
                    </a:p>
                  </a:txBody>
                  <a:tcPr anchor="ctr"/>
                </a:tc>
                <a:tc>
                  <a:txBody>
                    <a:bodyPr/>
                    <a:lstStyle/>
                    <a:p>
                      <a:pPr>
                        <a:buNone/>
                      </a:pPr>
                      <a:r>
                        <a:rPr lang="en-US"/>
                        <a:t>Prevents attackers from easily identifying ownership; shows strong asset control.</a:t>
                      </a:r>
                    </a:p>
                  </a:txBody>
                  <a:tcPr anchor="ctr"/>
                </a:tc>
                <a:extLst>
                  <a:ext uri="{0D108BD9-81ED-4DB2-BD59-A6C34878D82A}">
                    <a16:rowId xmlns:a16="http://schemas.microsoft.com/office/drawing/2014/main" val="224098091"/>
                  </a:ext>
                </a:extLst>
              </a:tr>
              <a:tr h="370840">
                <a:tc>
                  <a:txBody>
                    <a:bodyPr/>
                    <a:lstStyle/>
                    <a:p>
                      <a:pPr>
                        <a:buNone/>
                      </a:pPr>
                      <a:r>
                        <a:rPr lang="en-US" b="1"/>
                        <a:t>NSLOOKUP</a:t>
                      </a:r>
                      <a:endParaRPr lang="en-US"/>
                    </a:p>
                  </a:txBody>
                  <a:tcPr anchor="ctr"/>
                </a:tc>
                <a:tc>
                  <a:txBody>
                    <a:bodyPr/>
                    <a:lstStyle/>
                    <a:p>
                      <a:pPr>
                        <a:buNone/>
                      </a:pPr>
                      <a:r>
                        <a:rPr lang="en-US"/>
                        <a:t>Multiple IPs and DNS records, load balancing across global infrastructure.</a:t>
                      </a:r>
                    </a:p>
                  </a:txBody>
                  <a:tcPr anchor="ctr"/>
                </a:tc>
                <a:tc>
                  <a:txBody>
                    <a:bodyPr/>
                    <a:lstStyle/>
                    <a:p>
                      <a:pPr>
                        <a:buNone/>
                      </a:pPr>
                      <a:r>
                        <a:rPr lang="en-US" dirty="0"/>
                        <a:t>Increases availability and resilience; harder for attackers to target a single host.</a:t>
                      </a:r>
                    </a:p>
                  </a:txBody>
                  <a:tcPr anchor="ctr"/>
                </a:tc>
                <a:extLst>
                  <a:ext uri="{0D108BD9-81ED-4DB2-BD59-A6C34878D82A}">
                    <a16:rowId xmlns:a16="http://schemas.microsoft.com/office/drawing/2014/main" val="1228517326"/>
                  </a:ext>
                </a:extLst>
              </a:tr>
              <a:tr h="370840">
                <a:tc>
                  <a:txBody>
                    <a:bodyPr/>
                    <a:lstStyle/>
                    <a:p>
                      <a:pPr>
                        <a:buNone/>
                      </a:pPr>
                      <a:r>
                        <a:rPr lang="en-US" b="1"/>
                        <a:t>Nmap</a:t>
                      </a:r>
                      <a:endParaRPr lang="en-US"/>
                    </a:p>
                  </a:txBody>
                  <a:tcPr anchor="ctr"/>
                </a:tc>
                <a:tc>
                  <a:txBody>
                    <a:bodyPr/>
                    <a:lstStyle/>
                    <a:p>
                      <a:pPr>
                        <a:buNone/>
                      </a:pPr>
                      <a:r>
                        <a:rPr lang="en-US"/>
                        <a:t>Only standard ports 80 (HTTP) and 443 (HTTPS) open; SSL/TLS in use.</a:t>
                      </a:r>
                    </a:p>
                  </a:txBody>
                  <a:tcPr anchor="ctr"/>
                </a:tc>
                <a:tc>
                  <a:txBody>
                    <a:bodyPr/>
                    <a:lstStyle/>
                    <a:p>
                      <a:pPr>
                        <a:buNone/>
                      </a:pPr>
                      <a:r>
                        <a:rPr lang="en-US"/>
                        <a:t>Minimal attack surface exposed; industry best practice for web-facing services.</a:t>
                      </a:r>
                    </a:p>
                  </a:txBody>
                  <a:tcPr anchor="ctr"/>
                </a:tc>
                <a:extLst>
                  <a:ext uri="{0D108BD9-81ED-4DB2-BD59-A6C34878D82A}">
                    <a16:rowId xmlns:a16="http://schemas.microsoft.com/office/drawing/2014/main" val="3159460545"/>
                  </a:ext>
                </a:extLst>
              </a:tr>
              <a:tr h="370840">
                <a:tc>
                  <a:txBody>
                    <a:bodyPr/>
                    <a:lstStyle/>
                    <a:p>
                      <a:pPr>
                        <a:buNone/>
                      </a:pPr>
                      <a:r>
                        <a:rPr lang="en-US" b="1"/>
                        <a:t>theHarvester</a:t>
                      </a:r>
                      <a:endParaRPr lang="en-US"/>
                    </a:p>
                  </a:txBody>
                  <a:tcPr anchor="ctr"/>
                </a:tc>
                <a:tc>
                  <a:txBody>
                    <a:bodyPr/>
                    <a:lstStyle/>
                    <a:p>
                      <a:pPr>
                        <a:buNone/>
                      </a:pPr>
                      <a:r>
                        <a:rPr lang="en-US"/>
                        <a:t>Minimal results; few subdomains/contacts, most data scrubbed by security team.</a:t>
                      </a:r>
                    </a:p>
                  </a:txBody>
                  <a:tcPr anchor="ctr"/>
                </a:tc>
                <a:tc>
                  <a:txBody>
                    <a:bodyPr/>
                    <a:lstStyle/>
                    <a:p>
                      <a:pPr>
                        <a:buNone/>
                      </a:pPr>
                      <a:r>
                        <a:rPr lang="en-US" dirty="0"/>
                        <a:t>Shows active footprint management, but demonstrates OSINT can still reveal traces.</a:t>
                      </a:r>
                    </a:p>
                  </a:txBody>
                  <a:tcPr anchor="ctr"/>
                </a:tc>
                <a:extLst>
                  <a:ext uri="{0D108BD9-81ED-4DB2-BD59-A6C34878D82A}">
                    <a16:rowId xmlns:a16="http://schemas.microsoft.com/office/drawing/2014/main" val="1682713167"/>
                  </a:ext>
                </a:extLst>
              </a:tr>
            </a:tbl>
          </a:graphicData>
        </a:graphic>
      </p:graphicFrame>
    </p:spTree>
    <p:extLst>
      <p:ext uri="{BB962C8B-B14F-4D97-AF65-F5344CB8AC3E}">
        <p14:creationId xmlns:p14="http://schemas.microsoft.com/office/powerpoint/2010/main" val="8161622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83C6E-6175-86BF-7E55-C6620ABF1EBB}"/>
              </a:ext>
            </a:extLst>
          </p:cNvPr>
          <p:cNvSpPr>
            <a:spLocks noGrp="1"/>
          </p:cNvSpPr>
          <p:nvPr>
            <p:ph type="title"/>
          </p:nvPr>
        </p:nvSpPr>
        <p:spPr>
          <a:xfrm>
            <a:off x="677334" y="156238"/>
            <a:ext cx="6075158" cy="842568"/>
          </a:xfrm>
        </p:spPr>
        <p:txBody>
          <a:bodyPr/>
          <a:lstStyle/>
          <a:p>
            <a:r>
              <a:rPr lang="en-US" dirty="0"/>
              <a:t>Summary</a:t>
            </a:r>
          </a:p>
        </p:txBody>
      </p:sp>
      <p:sp>
        <p:nvSpPr>
          <p:cNvPr id="6" name="Rectangle 3">
            <a:extLst>
              <a:ext uri="{FF2B5EF4-FFF2-40B4-BE49-F238E27FC236}">
                <a16:creationId xmlns:a16="http://schemas.microsoft.com/office/drawing/2014/main" id="{6D82A300-977E-0647-366D-F908F9F645D0}"/>
              </a:ext>
            </a:extLst>
          </p:cNvPr>
          <p:cNvSpPr>
            <a:spLocks noGrp="1" noChangeArrowheads="1"/>
          </p:cNvSpPr>
          <p:nvPr>
            <p:ph idx="1"/>
          </p:nvPr>
        </p:nvSpPr>
        <p:spPr bwMode="auto">
          <a:xfrm>
            <a:off x="802492" y="1394879"/>
            <a:ext cx="1033911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Reconnaissance revealed only </a:t>
            </a:r>
            <a:r>
              <a:rPr kumimoji="0" lang="en-US" altLang="en-US" sz="1800" b="1" i="0" u="none" strike="noStrike" cap="none" normalizeH="0" baseline="0" dirty="0">
                <a:ln>
                  <a:noFill/>
                </a:ln>
                <a:solidFill>
                  <a:schemeClr val="tx1"/>
                </a:solidFill>
                <a:effectLst/>
                <a:latin typeface="Arial" panose="020B0604020202020204" pitchFamily="34" charset="0"/>
              </a:rPr>
              <a:t>essential services</a:t>
            </a:r>
            <a:r>
              <a:rPr kumimoji="0" lang="en-US" altLang="en-US" sz="1800" b="0" i="0" u="none" strike="noStrike" cap="none" normalizeH="0" baseline="0" dirty="0">
                <a:ln>
                  <a:noFill/>
                </a:ln>
                <a:solidFill>
                  <a:schemeClr val="tx1"/>
                </a:solidFill>
                <a:effectLst/>
                <a:latin typeface="Arial" panose="020B0604020202020204" pitchFamily="34" charset="0"/>
              </a:rPr>
              <a:t> exposed (HTTP/HTTPS).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WHOIS and DNS records</a:t>
            </a:r>
            <a:r>
              <a:rPr kumimoji="0" lang="en-US" altLang="en-US" sz="1800" b="0" i="0" u="none" strike="noStrike" cap="none" normalizeH="0" baseline="0" dirty="0">
                <a:ln>
                  <a:noFill/>
                </a:ln>
                <a:solidFill>
                  <a:schemeClr val="tx1"/>
                </a:solidFill>
                <a:effectLst/>
                <a:latin typeface="Arial" panose="020B0604020202020204" pitchFamily="34" charset="0"/>
              </a:rPr>
              <a:t> show strong registration and global infrastructure.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Minimal OSINT data</a:t>
            </a:r>
            <a:r>
              <a:rPr kumimoji="0" lang="en-US" altLang="en-US" sz="1800" b="0" i="0" u="none" strike="noStrike" cap="none" normalizeH="0" baseline="0" dirty="0">
                <a:ln>
                  <a:noFill/>
                </a:ln>
                <a:solidFill>
                  <a:schemeClr val="tx1"/>
                </a:solidFill>
                <a:effectLst/>
                <a:latin typeface="Arial" panose="020B0604020202020204" pitchFamily="34" charset="0"/>
              </a:rPr>
              <a:t> available due to active footprint management.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Overall: Facebook demonstrates a </a:t>
            </a:r>
            <a:r>
              <a:rPr kumimoji="0" lang="en-US" altLang="en-US" sz="1800" b="1" i="0" u="none" strike="noStrike" cap="none" normalizeH="0" baseline="0" dirty="0">
                <a:ln>
                  <a:noFill/>
                </a:ln>
                <a:solidFill>
                  <a:schemeClr val="tx1"/>
                </a:solidFill>
                <a:effectLst/>
                <a:latin typeface="Arial" panose="020B0604020202020204" pitchFamily="34" charset="0"/>
              </a:rPr>
              <a:t>mature, hardened security posture</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213029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F0835-8FB3-93F0-394A-DFD42DCB17DA}"/>
              </a:ext>
            </a:extLst>
          </p:cNvPr>
          <p:cNvSpPr>
            <a:spLocks noGrp="1"/>
          </p:cNvSpPr>
          <p:nvPr>
            <p:ph type="title"/>
          </p:nvPr>
        </p:nvSpPr>
        <p:spPr>
          <a:xfrm>
            <a:off x="677334" y="314178"/>
            <a:ext cx="8596668" cy="811237"/>
          </a:xfrm>
        </p:spPr>
        <p:txBody>
          <a:bodyPr>
            <a:normAutofit/>
          </a:bodyPr>
          <a:lstStyle/>
          <a:p>
            <a:r>
              <a:rPr lang="en-US" sz="4400" dirty="0"/>
              <a:t>Ethics</a:t>
            </a:r>
          </a:p>
        </p:txBody>
      </p:sp>
      <p:sp>
        <p:nvSpPr>
          <p:cNvPr id="4" name="Rectangle 1">
            <a:extLst>
              <a:ext uri="{FF2B5EF4-FFF2-40B4-BE49-F238E27FC236}">
                <a16:creationId xmlns:a16="http://schemas.microsoft.com/office/drawing/2014/main" id="{42A0EAE0-5C13-3779-0680-497BD255E26F}"/>
              </a:ext>
            </a:extLst>
          </p:cNvPr>
          <p:cNvSpPr>
            <a:spLocks noGrp="1" noChangeArrowheads="1"/>
          </p:cNvSpPr>
          <p:nvPr>
            <p:ph idx="1"/>
          </p:nvPr>
        </p:nvSpPr>
        <p:spPr bwMode="auto">
          <a:xfrm>
            <a:off x="550725" y="1569276"/>
            <a:ext cx="9652001"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Reconnaissance should </a:t>
            </a:r>
            <a:r>
              <a:rPr kumimoji="0" lang="en-US" altLang="en-US" sz="1800" b="1" i="0" u="none" strike="noStrike" cap="none" normalizeH="0" baseline="0" dirty="0">
                <a:ln>
                  <a:noFill/>
                </a:ln>
                <a:solidFill>
                  <a:schemeClr val="tx1"/>
                </a:solidFill>
                <a:effectLst/>
                <a:latin typeface="Arial" panose="020B0604020202020204" pitchFamily="34" charset="0"/>
              </a:rPr>
              <a:t>only</a:t>
            </a:r>
            <a:r>
              <a:rPr kumimoji="0" lang="en-US" altLang="en-US" sz="1800" b="0" i="0" u="none" strike="noStrike" cap="none" normalizeH="0" baseline="0" dirty="0">
                <a:ln>
                  <a:noFill/>
                </a:ln>
                <a:solidFill>
                  <a:schemeClr val="tx1"/>
                </a:solidFill>
                <a:effectLst/>
                <a:latin typeface="Arial" panose="020B0604020202020204" pitchFamily="34" charset="0"/>
              </a:rPr>
              <a:t> be performed on systems you own or have permission to test.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Unauthorized scanning is considered </a:t>
            </a:r>
            <a:r>
              <a:rPr kumimoji="0" lang="en-US" altLang="en-US" sz="1800" b="1" i="0" u="none" strike="noStrike" cap="none" normalizeH="0" baseline="0" dirty="0">
                <a:ln>
                  <a:noFill/>
                </a:ln>
                <a:solidFill>
                  <a:schemeClr val="tx1"/>
                </a:solidFill>
                <a:effectLst/>
                <a:latin typeface="Arial" panose="020B0604020202020204" pitchFamily="34" charset="0"/>
              </a:rPr>
              <a:t>illegal activity</a:t>
            </a:r>
            <a:r>
              <a:rPr kumimoji="0" lang="en-US" altLang="en-US" sz="1800" b="0" i="0" u="none" strike="noStrike" cap="none" normalizeH="0" baseline="0" dirty="0">
                <a:ln>
                  <a:noFill/>
                </a:ln>
                <a:solidFill>
                  <a:schemeClr val="tx1"/>
                </a:solidFill>
                <a:effectLst/>
                <a:latin typeface="Arial" panose="020B0604020202020204" pitchFamily="34" charset="0"/>
              </a:rPr>
              <a:t> under cybersecurity laws.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Purpose of this exercise: </a:t>
            </a:r>
            <a:r>
              <a:rPr kumimoji="0" lang="en-US" altLang="en-US" sz="1800" b="1" i="0" u="none" strike="noStrike" cap="none" normalizeH="0" baseline="0" dirty="0">
                <a:ln>
                  <a:noFill/>
                </a:ln>
                <a:solidFill>
                  <a:schemeClr val="tx1"/>
                </a:solidFill>
                <a:effectLst/>
                <a:latin typeface="Arial" panose="020B0604020202020204" pitchFamily="34" charset="0"/>
              </a:rPr>
              <a:t>education &amp; defense</a:t>
            </a:r>
            <a:r>
              <a:rPr kumimoji="0" lang="en-US" altLang="en-US" sz="1800" b="0" i="0" u="none" strike="noStrike" cap="none" normalizeH="0" baseline="0" dirty="0">
                <a:ln>
                  <a:noFill/>
                </a:ln>
                <a:solidFill>
                  <a:schemeClr val="tx1"/>
                </a:solidFill>
                <a:effectLst/>
                <a:latin typeface="Arial" panose="020B0604020202020204" pitchFamily="34" charset="0"/>
              </a:rPr>
              <a:t>, not exploitation.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Ethical hacking ensures organizations can </a:t>
            </a:r>
            <a:r>
              <a:rPr kumimoji="0" lang="en-US" altLang="en-US" sz="1800" b="1" i="0" u="none" strike="noStrike" cap="none" normalizeH="0" baseline="0" dirty="0">
                <a:ln>
                  <a:noFill/>
                </a:ln>
                <a:solidFill>
                  <a:schemeClr val="tx1"/>
                </a:solidFill>
                <a:effectLst/>
                <a:latin typeface="Arial" panose="020B0604020202020204" pitchFamily="34" charset="0"/>
              </a:rPr>
              <a:t>fix weaknesses before attackers exploit them.</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451706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5BC16-0CF1-C57C-6D79-D568A121C54C}"/>
              </a:ext>
            </a:extLst>
          </p:cNvPr>
          <p:cNvSpPr>
            <a:spLocks noGrp="1"/>
          </p:cNvSpPr>
          <p:nvPr>
            <p:ph type="title"/>
          </p:nvPr>
        </p:nvSpPr>
        <p:spPr>
          <a:xfrm>
            <a:off x="677334" y="226870"/>
            <a:ext cx="8596668" cy="828207"/>
          </a:xfrm>
        </p:spPr>
        <p:txBody>
          <a:bodyPr>
            <a:normAutofit/>
          </a:bodyPr>
          <a:lstStyle/>
          <a:p>
            <a:r>
              <a:rPr lang="en-US" sz="4400" dirty="0"/>
              <a:t>Recommendations / Next Steps</a:t>
            </a:r>
          </a:p>
        </p:txBody>
      </p:sp>
      <p:sp>
        <p:nvSpPr>
          <p:cNvPr id="5" name="Rectangle 2">
            <a:extLst>
              <a:ext uri="{FF2B5EF4-FFF2-40B4-BE49-F238E27FC236}">
                <a16:creationId xmlns:a16="http://schemas.microsoft.com/office/drawing/2014/main" id="{BD306041-D717-3679-2E5B-964CABEE0F96}"/>
              </a:ext>
            </a:extLst>
          </p:cNvPr>
          <p:cNvSpPr>
            <a:spLocks noGrp="1" noChangeArrowheads="1"/>
          </p:cNvSpPr>
          <p:nvPr>
            <p:ph idx="1"/>
          </p:nvPr>
        </p:nvSpPr>
        <p:spPr bwMode="auto">
          <a:xfrm>
            <a:off x="677334" y="1178221"/>
            <a:ext cx="9226321"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Continue limiting exposed services</a:t>
            </a:r>
            <a:r>
              <a:rPr kumimoji="0" lang="en-US" altLang="en-US" sz="1800" b="0" i="0" u="none" strike="noStrike" cap="none" normalizeH="0" baseline="0" dirty="0">
                <a:ln>
                  <a:noFill/>
                </a:ln>
                <a:solidFill>
                  <a:schemeClr val="tx1"/>
                </a:solidFill>
                <a:effectLst/>
                <a:latin typeface="Arial" panose="020B0604020202020204" pitchFamily="34" charset="0"/>
              </a:rPr>
              <a:t> → Keep attack surface minimal.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Ongoing monitoring</a:t>
            </a:r>
            <a:r>
              <a:rPr kumimoji="0" lang="en-US" altLang="en-US" sz="1800" b="0" i="0" u="none" strike="noStrike" cap="none" normalizeH="0" baseline="0" dirty="0">
                <a:ln>
                  <a:noFill/>
                </a:ln>
                <a:solidFill>
                  <a:schemeClr val="tx1"/>
                </a:solidFill>
                <a:effectLst/>
                <a:latin typeface="Arial" panose="020B0604020202020204" pitchFamily="34" charset="0"/>
              </a:rPr>
              <a:t> → Detect new subdomains, DNS changes, leaked assets.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Regular vulnerability assessments &amp; penetration tests</a:t>
            </a:r>
            <a:r>
              <a:rPr kumimoji="0" lang="en-US" altLang="en-US" sz="1800" b="0" i="0" u="none" strike="noStrike" cap="none" normalizeH="0" baseline="0" dirty="0">
                <a:ln>
                  <a:noFill/>
                </a:ln>
                <a:solidFill>
                  <a:schemeClr val="tx1"/>
                </a:solidFill>
                <a:effectLst/>
                <a:latin typeface="Arial" panose="020B0604020202020204" pitchFamily="34" charset="0"/>
              </a:rPr>
              <a:t> → Catch misconfigurations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before attackers do.</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Strengthen OSINT hygiene</a:t>
            </a:r>
            <a:r>
              <a:rPr kumimoji="0" lang="en-US" altLang="en-US" sz="1800" b="0" i="0" u="none" strike="noStrike" cap="none" normalizeH="0" baseline="0" dirty="0">
                <a:ln>
                  <a:noFill/>
                </a:ln>
                <a:solidFill>
                  <a:schemeClr val="tx1"/>
                </a:solidFill>
                <a:effectLst/>
                <a:latin typeface="Arial" panose="020B0604020202020204" pitchFamily="34" charset="0"/>
              </a:rPr>
              <a:t> → Reduce metadata leaks, enforce strict public-facing policies.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Incident response readiness</a:t>
            </a:r>
            <a:r>
              <a:rPr kumimoji="0" lang="en-US" altLang="en-US" sz="1800" b="0" i="0" u="none" strike="noStrike" cap="none" normalizeH="0" baseline="0" dirty="0">
                <a:ln>
                  <a:noFill/>
                </a:ln>
                <a:solidFill>
                  <a:schemeClr val="tx1"/>
                </a:solidFill>
                <a:effectLst/>
                <a:latin typeface="Arial" panose="020B0604020202020204" pitchFamily="34" charset="0"/>
              </a:rPr>
              <a:t> → Ensure rapid response if anomalies or exposures are detected.</a:t>
            </a:r>
          </a:p>
        </p:txBody>
      </p:sp>
    </p:spTree>
    <p:extLst>
      <p:ext uri="{BB962C8B-B14F-4D97-AF65-F5344CB8AC3E}">
        <p14:creationId xmlns:p14="http://schemas.microsoft.com/office/powerpoint/2010/main" val="1520052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FA60E-FCCF-80AD-857B-EB4756A78628}"/>
              </a:ext>
            </a:extLst>
          </p:cNvPr>
          <p:cNvSpPr>
            <a:spLocks noGrp="1"/>
          </p:cNvSpPr>
          <p:nvPr>
            <p:ph type="title"/>
          </p:nvPr>
        </p:nvSpPr>
        <p:spPr>
          <a:xfrm>
            <a:off x="677334" y="173502"/>
            <a:ext cx="8596668" cy="937846"/>
          </a:xfrm>
        </p:spPr>
        <p:txBody>
          <a:bodyPr>
            <a:normAutofit/>
          </a:bodyPr>
          <a:lstStyle/>
          <a:p>
            <a:r>
              <a:rPr lang="en-US" sz="4400" dirty="0"/>
              <a:t>Closing </a:t>
            </a:r>
          </a:p>
        </p:txBody>
      </p:sp>
      <p:sp>
        <p:nvSpPr>
          <p:cNvPr id="3" name="Content Placeholder 2">
            <a:extLst>
              <a:ext uri="{FF2B5EF4-FFF2-40B4-BE49-F238E27FC236}">
                <a16:creationId xmlns:a16="http://schemas.microsoft.com/office/drawing/2014/main" id="{559EDA0E-0875-2A15-E847-0BA42D1484C4}"/>
              </a:ext>
            </a:extLst>
          </p:cNvPr>
          <p:cNvSpPr>
            <a:spLocks noGrp="1"/>
          </p:cNvSpPr>
          <p:nvPr>
            <p:ph idx="1"/>
          </p:nvPr>
        </p:nvSpPr>
        <p:spPr>
          <a:xfrm>
            <a:off x="1141568" y="1012874"/>
            <a:ext cx="8596668" cy="3880773"/>
          </a:xfrm>
        </p:spPr>
        <p:txBody>
          <a:bodyPr>
            <a:normAutofit/>
          </a:bodyPr>
          <a:lstStyle/>
          <a:p>
            <a:pPr marL="0" indent="0">
              <a:buNone/>
            </a:pPr>
            <a:r>
              <a:rPr lang="en-US" sz="2800" b="1" dirty="0"/>
              <a:t>Thank You </a:t>
            </a:r>
          </a:p>
        </p:txBody>
      </p:sp>
      <p:pic>
        <p:nvPicPr>
          <p:cNvPr id="5" name="Picture 4">
            <a:extLst>
              <a:ext uri="{FF2B5EF4-FFF2-40B4-BE49-F238E27FC236}">
                <a16:creationId xmlns:a16="http://schemas.microsoft.com/office/drawing/2014/main" id="{F9F4746F-A6B9-8D95-D997-3E8D382958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05243"/>
            <a:ext cx="12191999" cy="5352757"/>
          </a:xfrm>
          <a:prstGeom prst="rect">
            <a:avLst/>
          </a:prstGeom>
        </p:spPr>
      </p:pic>
      <p:sp>
        <p:nvSpPr>
          <p:cNvPr id="7" name="TextBox 6">
            <a:extLst>
              <a:ext uri="{FF2B5EF4-FFF2-40B4-BE49-F238E27FC236}">
                <a16:creationId xmlns:a16="http://schemas.microsoft.com/office/drawing/2014/main" id="{E11BC1E4-1F2A-5F66-0750-CC5919FA07EA}"/>
              </a:ext>
            </a:extLst>
          </p:cNvPr>
          <p:cNvSpPr txBox="1"/>
          <p:nvPr/>
        </p:nvSpPr>
        <p:spPr>
          <a:xfrm>
            <a:off x="6555545" y="6488668"/>
            <a:ext cx="6105378" cy="369332"/>
          </a:xfrm>
          <a:prstGeom prst="rect">
            <a:avLst/>
          </a:prstGeom>
          <a:noFill/>
        </p:spPr>
        <p:txBody>
          <a:bodyPr wrap="square">
            <a:spAutoFit/>
          </a:bodyPr>
          <a:lstStyle/>
          <a:p>
            <a:r>
              <a:rPr lang="en-US" b="1" dirty="0">
                <a:solidFill>
                  <a:schemeClr val="accent1"/>
                </a:solidFill>
              </a:rPr>
              <a:t>Basic Footprinting &amp; Reconnaissance Group 1</a:t>
            </a:r>
          </a:p>
        </p:txBody>
      </p:sp>
    </p:spTree>
    <p:extLst>
      <p:ext uri="{BB962C8B-B14F-4D97-AF65-F5344CB8AC3E}">
        <p14:creationId xmlns:p14="http://schemas.microsoft.com/office/powerpoint/2010/main" val="257292673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docProps/app.xml><?xml version="1.0" encoding="utf-8"?>
<Properties xmlns="http://schemas.openxmlformats.org/officeDocument/2006/extended-properties" xmlns:vt="http://schemas.openxmlformats.org/officeDocument/2006/docPropsVTypes">
  <Template>Facet</Template>
  <TotalTime>5447</TotalTime>
  <Words>411</Words>
  <Application>Microsoft Office PowerPoint</Application>
  <PresentationFormat>Widescreen</PresentationFormat>
  <Paragraphs>70</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Trebuchet MS</vt:lpstr>
      <vt:lpstr>Wingdings 3</vt:lpstr>
      <vt:lpstr>Facet</vt:lpstr>
      <vt:lpstr>Basic Foot Printing and Reconnaissance</vt:lpstr>
      <vt:lpstr> Objective </vt:lpstr>
      <vt:lpstr>Skills Learned</vt:lpstr>
      <vt:lpstr>WHOIS</vt:lpstr>
      <vt:lpstr>NSLOOKUP</vt:lpstr>
      <vt:lpstr>Nmap</vt:lpstr>
      <vt:lpstr>theHarvester</vt:lpstr>
      <vt:lpstr>Tables of Findings </vt:lpstr>
      <vt:lpstr>Summary</vt:lpstr>
      <vt:lpstr>Ethics</vt:lpstr>
      <vt:lpstr>Recommendations / Next Steps</vt:lpstr>
      <vt:lpstr>Closing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CYrus</dc:creator>
  <cp:lastModifiedBy>CYrus</cp:lastModifiedBy>
  <cp:revision>3</cp:revision>
  <dcterms:created xsi:type="dcterms:W3CDTF">2025-08-18T18:19:45Z</dcterms:created>
  <dcterms:modified xsi:type="dcterms:W3CDTF">2025-10-25T04:45:46Z</dcterms:modified>
</cp:coreProperties>
</file>